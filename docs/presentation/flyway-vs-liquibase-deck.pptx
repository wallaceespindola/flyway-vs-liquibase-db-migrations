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talk is backed by a running application, not a blog post. One Spring Boot process opens two</a:t>
            </a:r>
          </a:p>
          <a:p>
            <a:r>
              <a:t>independent H2 databases. Flyway migrates one, Liquibase migrates the other, and the app reads both</a:t>
            </a:r>
          </a:p>
          <a:p>
            <a:r>
              <a:t>back from INFORMATION_SCHEMA and diffs them at runtime.</a:t>
            </a:r>
          </a:p>
          <a:p>
            <a:r>
              <a:t>Set the frame early: I am not selling either tool. Both work. The interesting question is which</a:t>
            </a:r>
          </a:p>
          <a:p>
            <a:r>
              <a:t>trade-offs you are buying, and this deck answers that with code from the repo and one measured</a:t>
            </a:r>
          </a:p>
          <a:p>
            <a:r>
              <a:t>result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Everybody in the room has lived this. The symptom is not a dramatic outage, it is a slow</a:t>
            </a:r>
          </a:p>
          <a:p>
            <a:r>
              <a:t>accumulation of uncertainty. You stop trusting that staging looks like production, so you stop</a:t>
            </a:r>
          </a:p>
          <a:p>
            <a:r>
              <a:t>testing against staging, so defects reach production.</a:t>
            </a:r>
          </a:p>
          <a:p>
            <a:r>
              <a:t>The root cause is that DDL is treated as an operational act rather than as source code. Two things</a:t>
            </a:r>
          </a:p>
          <a:p>
            <a:r>
              <a:t>are missing: an ordered, reviewable record of every change, and a machine that applies exactly that</a:t>
            </a:r>
          </a:p>
          <a:p>
            <a:r>
              <a:t>record to every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these four as the baseline, not the differentiator. Any tool that fails one of these is not a</a:t>
            </a:r>
          </a:p>
          <a:p>
            <a:r>
              <a:t>candidate.</a:t>
            </a:r>
          </a:p>
          <a:p>
            <a:r>
              <a:t>The checksum point deserves a beat: both tools hash applied changes, so editing a migration that has</a:t>
            </a:r>
          </a:p>
          <a:p>
            <a:r>
              <a:t>already run fails validation instead of silently drifting. That single behaviour prevents a large</a:t>
            </a:r>
          </a:p>
          <a:p>
            <a:r>
              <a:t>class of "it works on my machine" incidents.</a:t>
            </a:r>
          </a:p>
          <a:p>
            <a:r>
              <a:t>The automation point matters for Spring Boot: both engines run before JPA initialises, so the schema</a:t>
            </a:r>
          </a:p>
          <a:p>
            <a:r>
              <a:t>is guaranteed correct before the first entity is touched.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whole model. There is no changelog file, no registry, no include list. Convention over</a:t>
            </a:r>
          </a:p>
          <a:p>
            <a:r>
              <a:t>configuration in the most literal sense: discovery is a directory scan and an ordering rule.</a:t>
            </a:r>
          </a:p>
          <a:p>
            <a:r>
              <a:t>Point at the bootstrap code - it is from config/FlywayConfig.java in the repo, unedited. Five</a:t>
            </a:r>
          </a:p>
          <a:p>
            <a:r>
              <a:t>builder calls and Flyway is live. That brevity is Flyway's core value proposition and it is</a:t>
            </a:r>
          </a:p>
          <a:p>
            <a:r>
              <a:t>genuinely hard to argue with.</a:t>
            </a:r>
          </a:p>
          <a:p>
            <a:r>
              <a:t>validateOnMigrate(true) is the checksum enforcement. cleanDisabled(true) in the repo blocks the</a:t>
            </a:r>
          </a:p>
          <a:p>
            <a:r>
              <a:t>destructive clean command, which you always want switched off outside a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Liquibase needs more knobs than Flyway, and that is not an accident: it models changes abstractly,</a:t>
            </a:r>
          </a:p>
          <a:p>
            <a:r>
              <a:t>so it needs to be told what to include, in what context, and against which schema.</a:t>
            </a:r>
          </a:p>
          <a:p>
            <a:r>
              <a:t>The abstraction is the product. When you write createTable instead of CREATE TABLE, Liquibase</a:t>
            </a:r>
          </a:p>
          <a:p>
            <a:r>
              <a:t>decides what H2, PostgreSQL or Oracle should actually receive. That is what unlocks portability, and</a:t>
            </a:r>
          </a:p>
          <a:p>
            <a:r>
              <a:t>it is also what makes the diff harder to read for a reviewer who only knows SQL.</a:t>
            </a:r>
          </a:p>
          <a:p>
            <a:r>
              <a:t>This bootstrap is from config/LiquibaseConfig.java, unedited. SpringLiquibase implements</a:t>
            </a:r>
          </a:p>
          <a:p>
            <a:r>
              <a:t>InitializingBean, so the changelog is applied during bean initialisation - the same lifecycle</a:t>
            </a:r>
          </a:p>
          <a:p>
            <a:r>
              <a:t>position as Flyway's migrate().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design matters because it removes the usual hand-waving. Both engines are explicitly wired, with</a:t>
            </a:r>
          </a:p>
          <a:p>
            <a:r>
              <a:t>Spring Boot's DataSourceAutoConfiguration excluded, so nothing is hidden behind auto-configuration</a:t>
            </a:r>
          </a:p>
          <a:p>
            <a:r>
              <a:t>magic. You see the real bootstrap of each tool.</a:t>
            </a:r>
          </a:p>
          <a:p>
            <a:r>
              <a:t>Each JdbcTemplate carries @DependsOn on its migration bean. That guarantees no read can happen</a:t>
            </a:r>
          </a:p>
          <a:p>
            <a:r>
              <a:t>before the migrations have run, so the comparison always reflects a fully migrated database.</a:t>
            </a:r>
          </a:p>
          <a:p>
            <a:r>
              <a:t>Then SchemaInspectionService queries INFORMATION_SCHEMA on both sides - it never trusts the</a:t>
            </a:r>
          </a:p>
          <a:p>
            <a:r>
              <a:t>migration scripts, it reads what the database actually contains.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table left to right. Note that V3 seeds data through a versioned migration - the seed</a:t>
            </a:r>
          </a:p>
          <a:p>
            <a:r>
              <a:t>becomes part of schema history and applies exactly once per environment, in order. That is a</a:t>
            </a:r>
          </a:p>
          <a:p>
            <a:r>
              <a:t>deliberate choice and it is the right one for reference data.</a:t>
            </a:r>
          </a:p>
          <a:p>
            <a:r>
              <a:t>V5 is the classic expand step of an expand/contract rollout: add a column with a default, backfill</a:t>
            </a:r>
          </a:p>
          <a:p>
            <a:r>
              <a:t>it, index it. All in one migration because it is one logical change.</a:t>
            </a:r>
          </a:p>
          <a:p>
            <a:r>
              <a:t>The R__ file has no version number. Flyway re-runs it whenever the file's checksum changes, which is</a:t>
            </a:r>
          </a:p>
          <a:p>
            <a:r>
              <a:t>exactly what you want for views and stored procedures - objects you redefine rather than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ergonomic argument for Flyway in one slide. Anyone who reads SQL can review these two</a:t>
            </a:r>
          </a:p>
          <a:p>
            <a:r>
              <a:t>files with no additional vocabulary. There is nothing between the intent and the statement.</a:t>
            </a:r>
          </a:p>
          <a:p>
            <a:r>
              <a:t>The cost is written on the same slide: this is H2 dialect. Move to PostgreSQL and BOOLEAN NOT NULL</a:t>
            </a:r>
          </a:p>
          <a:p>
            <a:r>
              <a:t>DEFAULT TRUE is fine, but AUTO_INCREMENT in V1 is not. You would rewrite the files.</a:t>
            </a:r>
          </a:p>
          <a:p>
            <a:r>
              <a:t>Note also what is missing from V5: any way to undo it. Flyway Community has no undo. Reverting means</a:t>
            </a:r>
          </a:p>
          <a:p>
            <a:r>
              <a:t>writing V6__drop_product_active_flag.sql. We come back to this on the rollback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format mixing is not showing off - it is how real Liquibase projects look. Structural changes go</a:t>
            </a:r>
          </a:p>
          <a:p>
            <a:r>
              <a:t>in XML or YAML for portability, and you drop to raw SQL only where a vendor feature has no portable</a:t>
            </a:r>
          </a:p>
          <a:p>
            <a:r>
              <a:t>tag. 002 does exactly that: check constraints have no Liquibase tag, so there is an inline sql block.</a:t>
            </a:r>
          </a:p>
          <a:p>
            <a:r>
              <a:t>Count carefully: six files, seven changesets, because 005 splits the schema change from the data</a:t>
            </a:r>
          </a:p>
          <a:p>
            <a:r>
              <a:t>backfill. That split is itself the point - they carry different labels, schema-evolution and</a:t>
            </a:r>
          </a:p>
          <a:p>
            <a:r>
              <a:t>data-backfill, so they can be selected independently at runtime.</a:t>
            </a:r>
          </a:p>
          <a:p>
            <a:r>
              <a:t>Compare with the Flyway side: six migrations there, seven changesets here, same resulting schema.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capabilities are on display and neither exists in Flyway Community.</a:t>
            </a:r>
          </a:p>
          <a:p>
            <a:r>
              <a:t>First, preConditions. If the product table is missing, the changeset is marked as run instead of</a:t>
            </a:r>
          </a:p>
          <a:p>
            <a:r>
              <a:t>exploding halfway through a deploy. onFail has several modes - MARK_RAN, CONTINUE, HALT, WARN - so</a:t>
            </a:r>
          </a:p>
          <a:p>
            <a:r>
              <a:t>you choose the failure semantics per changeset. Flyway has no declarative equivalent; you would</a:t>
            </a:r>
          </a:p>
          <a:p>
            <a:r>
              <a:t>write defensive SQL or a Java migration.</a:t>
            </a:r>
          </a:p>
          <a:p>
            <a:r>
              <a:t>Second, rollback. This block makes "liquibase rollbackCount 1" a supported, testable operation.</a:t>
            </a:r>
          </a:p>
          <a:p>
            <a:r>
              <a:t>Liquibase can infer rollbacks for most structural changes, but declaring them explicitly keeps</a:t>
            </a:r>
          </a:p>
          <a:p>
            <a:r>
              <a:t>intent visible and survives future refactoring of the forward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table, two philosophies, and the trade-off is visible in the character count.</a:t>
            </a:r>
          </a:p>
          <a:p>
            <a:r>
              <a:t>The Flyway version is shorter and every reviewer already speaks it. The Liquibase version is longer</a:t>
            </a:r>
          </a:p>
          <a:p>
            <a:r>
              <a:t>and requires knowing what the tags emit - but it names its constraints explicitly and it is not</a:t>
            </a:r>
          </a:p>
          <a:p>
            <a:r>
              <a:t>bound to H2. AUTO_INCREMENT in the SQL version is H2 and MySQL syntax; PostgreSQL wants GENERATED</a:t>
            </a:r>
          </a:p>
          <a:p>
            <a:r>
              <a:t>ALWAYS AS IDENTITY. Liquibase's autoIncrement="true" produces the right thing on either.</a:t>
            </a:r>
          </a:p>
          <a:p>
            <a:r>
              <a:t>This is the whole comparison in miniature: directness versus abstraction. Neither is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measured, not editorial - it is what the two tables actually contain in the running</a:t>
            </a:r>
          </a:p>
          <a:p>
            <a:r>
              <a:t>demo. Two rows deserve emphasis in opposite directions.</a:t>
            </a:r>
          </a:p>
          <a:p>
            <a:r>
              <a:t>Flyway records execution time per migration in milliseconds. Liquibase does not persist a</a:t>
            </a:r>
          </a:p>
          <a:p>
            <a:r>
              <a:t>per-changeset duration at all. If you want to know which migration is making your deploys slow,</a:t>
            </a:r>
          </a:p>
          <a:p>
            <a:r>
              <a:t>Flyway tells you for free.</a:t>
            </a:r>
          </a:p>
          <a:p>
            <a:r>
              <a:t>Liquibase records author, contexts, labels and deployment id. Flyway's attribution lives only in git</a:t>
            </a:r>
          </a:p>
          <a:p>
            <a:r>
              <a:t>history. If auditors want to see who changed the schema without leaving the database, Liquibase</a:t>
            </a:r>
          </a:p>
          <a:p>
            <a:r>
              <a:t>answers that and Flyway does not.</a:t>
            </a:r>
          </a:p>
          <a:p>
            <a:r>
              <a:t>Also note Liquibase needs a second table for locking, Flyway uses a database-level 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finding that surprised me most when building the demo, and it is a real operational</a:t>
            </a:r>
          </a:p>
          <a:p>
            <a:r>
              <a:t>difference if you embed the engine in an application.</a:t>
            </a:r>
          </a:p>
          <a:p>
            <a:r>
              <a:t>flyway.info() hands you objects. Applied and pending, already ordered, with state and checksum. Zero</a:t>
            </a:r>
          </a:p>
          <a:p>
            <a:r>
              <a:t>SQL. That is FlywayHistoryService in the repo - the entire class is a stream over that array.</a:t>
            </a:r>
          </a:p>
          <a:p>
            <a:r>
              <a:t>On the Liquibase side, LiquibaseHistoryService is a JdbcTemplate query against DATABASECHANGELOG,</a:t>
            </a:r>
          </a:p>
          <a:p>
            <a:r>
              <a:t>because there is no equivalent. It works, and the table gives you more columns than Flyway's does,</a:t>
            </a:r>
          </a:p>
          <a:p>
            <a:r>
              <a:t>but you are now coupled to Liquibase's internal table shape.</a:t>
            </a:r>
          </a:p>
          <a:p>
            <a:r>
              <a:t>Also worth saying honestly: Liquibase only records what it has already run. Discovering pending</a:t>
            </a:r>
          </a:p>
          <a:p>
            <a:r>
              <a:t>changesets requires a full changelog parse.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headline. Six Flyway migrations and seven Liquibase changesets converge on identical</a:t>
            </a:r>
          </a:p>
          <a:p>
            <a:r>
              <a:t>business schemas. Tables, views and columns with their data types all match.</a:t>
            </a:r>
          </a:p>
          <a:p>
            <a:r>
              <a:t>Be precise about what is compared and what is not. ComparisonService diffs tables, views and</a:t>
            </a:r>
          </a:p>
          <a:p>
            <a:r>
              <a:t>columns. It deliberately excludes indexes, because H2 auto-generates constraint-backing indexes</a:t>
            </a:r>
          </a:p>
          <a:p>
            <a:r>
              <a:t>under generated names that legitimately differ between the two engines - including them would</a:t>
            </a:r>
          </a:p>
          <a:p>
            <a:r>
              <a:t>report noise as drift. That exclusion is documented in the code, not hidden.</a:t>
            </a:r>
          </a:p>
          <a:p>
            <a:r>
              <a:t>The conclusion to draw: the choice between these tools is not about what schema you end up with. It</a:t>
            </a:r>
          </a:p>
          <a:p>
            <a:r>
              <a:t>is entirely about the process around getting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matrix is served live at /api/v1/comparison/features and lives in FeatureMatrix.java. Eighteen</a:t>
            </a:r>
          </a:p>
          <a:p>
            <a:r>
              <a:t>rows total, split across three slides. The "Edge" column is my judgement, stated as such -</a:t>
            </a:r>
          </a:p>
          <a:p>
            <a:r>
              <a:t>everything to its left is factual.</a:t>
            </a:r>
          </a:p>
          <a:p>
            <a:r>
              <a:t>Notice the pattern already forming: Flyway wins the rows about humans reading and writing changes,</a:t>
            </a:r>
          </a:p>
          <a:p>
            <a:r>
              <a:t>Liquibase wins the rows about machines executing them in varied environments.</a:t>
            </a:r>
          </a:p>
          <a:p>
            <a:r>
              <a:t>Do not linger on every row. Read two or three and move on; the deck is a reference the audience can</a:t>
            </a:r>
          </a:p>
          <a:p>
            <a:r>
              <a:t>re-read.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Liquibase collects most of its wins, and they are substantive rather than cosmetic.</a:t>
            </a:r>
          </a:p>
          <a:p>
            <a:r>
              <a:t>Rollback, conditional execution and diff are three genuinely different capabilities, not three names</a:t>
            </a:r>
          </a:p>
          <a:p>
            <a:r>
              <a:t>for the same one.</a:t>
            </a:r>
          </a:p>
          <a:p>
            <a:r>
              <a:t>The Spring Boot row is worth calling out as a tie because people assume otherwise. Both engines are</a:t>
            </a:r>
          </a:p>
          <a:p>
            <a:r>
              <a:t>auto-configured, both run before JPA initialises, both are one property block away from working. Our</a:t>
            </a:r>
          </a:p>
          <a:p>
            <a:r>
              <a:t>demo bypasses auto-configuration on purpose, to show the real bootstrap.</a:t>
            </a:r>
          </a:p>
          <a:p>
            <a:r>
              <a:t>The timing row is the one place Flyway is ahead on observability, and it is genuinely useful when a</a:t>
            </a:r>
          </a:p>
          <a:p>
            <a:r>
              <a:t>deploy window is tight.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rows here decide real procurement conversations.</a:t>
            </a:r>
          </a:p>
          <a:p>
            <a:r>
              <a:t>The licensing row: the capabilities most teams eventually want - undo and drift detection - are paid</a:t>
            </a:r>
          </a:p>
          <a:p>
            <a:r>
              <a:t>features in Flyway and open source in Liquibase. That is not a knock on Flyway's business model, but</a:t>
            </a:r>
          </a:p>
          <a:p>
            <a:r>
              <a:t>it belongs in your evaluation, because "Flyway Community is enough" often stops being true about</a:t>
            </a:r>
          </a:p>
          <a:p>
            <a:r>
              <a:t>eighteen months in.</a:t>
            </a:r>
          </a:p>
          <a:p>
            <a:r>
              <a:t>The merge conflict row is the one experienced teams nod at. Two branches both adding V6 collide</a:t>
            </a:r>
          </a:p>
          <a:p>
            <a:r>
              <a:t>immediately and obviously. Two branches both appending to a master changelog produce a conflict git</a:t>
            </a:r>
          </a:p>
          <a:p>
            <a:r>
              <a:t>will happily auto-resolve into the wrong order, and nothing fails until deploy.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about how much this matters in practice, because the honest answer is "less than the</a:t>
            </a:r>
          </a:p>
          <a:p>
            <a:r>
              <a:t>marketing suggests, but not zero".</a:t>
            </a:r>
          </a:p>
          <a:p>
            <a:r>
              <a:t>Most production incidents are not fixed by rolling the schema back. Once data has been written</a:t>
            </a:r>
          </a:p>
          <a:p>
            <a:r>
              <a:t>against the new shape, an automated rollback destroys it. The disciplined pattern - expand, migrate,</a:t>
            </a:r>
          </a:p>
          <a:p>
            <a:r>
              <a:t>contract - makes forward-only recovery viable, and plenty of high-functioning teams run Flyway</a:t>
            </a:r>
          </a:p>
          <a:p>
            <a:r>
              <a:t>Community forever without missing undo.</a:t>
            </a:r>
          </a:p>
          <a:p>
            <a:r>
              <a:t>Where rollback genuinely pays: pre-production. Tearing a test environment back to a known point,</a:t>
            </a:r>
          </a:p>
          <a:p>
            <a:r>
              <a:t>rehearsing a release, iterating on a changeset locally. Running rollbackCount 1 instead of</a:t>
            </a:r>
          </a:p>
          <a:p>
            <a:r>
              <a:t>rebuilding the database is a real productivity gain, and it is free in Liquibase.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nuance is the point of this slide. Liquibase's portability is real, and it is bounded.</a:t>
            </a:r>
          </a:p>
          <a:p>
            <a:r>
              <a:t>Look at 002-create-product-table.yaml in the repo. The table, columns and indexes are portable tags.</a:t>
            </a:r>
          </a:p>
          <a:p>
            <a:r>
              <a:t>The two check constraints are an inline sql block, with a comment saying exactly why: there is no</a:t>
            </a:r>
          </a:p>
          <a:p>
            <a:r>
              <a:t>portable tag for them. So that file is portable in part and dialect-bound in part.</a:t>
            </a:r>
          </a:p>
          <a:p>
            <a:r>
              <a:t>Then ask the room the question that actually settles it: how many times has your team changed</a:t>
            </a:r>
          </a:p>
          <a:p>
            <a:r>
              <a:t>database engine? For most product teams the answer is zero, and portability is paying rent it does</a:t>
            </a:r>
          </a:p>
          <a:p>
            <a:r>
              <a:t>not earn. For a vendor shipping the same product onto customer-chosen databases, it is the entire</a:t>
            </a:r>
          </a:p>
          <a:p>
            <a:r>
              <a:t>reason to pick Liquibase.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changes minds in rooms full of practitioners, because it is about the daily</a:t>
            </a:r>
          </a:p>
          <a:p>
            <a:r>
              <a:t>cost rather than the feature list.</a:t>
            </a:r>
          </a:p>
          <a:p>
            <a:r>
              <a:t>The Flyway conflict is the good kind of failure: it happens at merge time, it is obvious, and the</a:t>
            </a:r>
          </a:p>
          <a:p>
            <a:r>
              <a:t>fix is renaming a file. Some teams add a CI check that version numbers are unique - trivially cheap.</a:t>
            </a:r>
          </a:p>
          <a:p>
            <a:r>
              <a:t>The Liquibase conflict is the bad kind: syntactically valid, semantically wrong, discovered later.</a:t>
            </a:r>
          </a:p>
          <a:p>
            <a:r>
              <a:t>The mitigations are real - one changelog file per release, or directory-based inclusion with</a:t>
            </a:r>
          </a:p>
          <a:p>
            <a:r>
              <a:t>includeAll - but they are conventions your team has to adopt and enforce, not defaults.</a:t>
            </a:r>
          </a:p>
          <a:p>
            <a:r>
              <a:t>If your team is large and merges often, weigh this row heavily.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people photograph. Give it time.</a:t>
            </a:r>
          </a:p>
          <a:p>
            <a:r>
              <a:t>Reframe the decision so nobody leaves thinking one tool is better. Flyway optimises for the common</a:t>
            </a:r>
          </a:p>
          <a:p>
            <a:r>
              <a:t>case: one database, SQL-literate team, forward-only releases. Liquibase optimises for variability:</a:t>
            </a:r>
          </a:p>
          <a:p>
            <a:r>
              <a:t>many databases, many environments, changes that must be conditional or reversible.</a:t>
            </a:r>
          </a:p>
          <a:p>
            <a:r>
              <a:t>The most common mistake is picking Liquibase for portability you will never exercise, and paying the</a:t>
            </a:r>
          </a:p>
          <a:p>
            <a:r>
              <a:t>review-ergonomics tax every single day for it. The second most common is picking Flyway Community</a:t>
            </a:r>
          </a:p>
          <a:p>
            <a:r>
              <a:t>and discovering eighteen months later that undo and drift detection are behind a licence.</a:t>
            </a:r>
          </a:p>
          <a:p>
            <a:r>
              <a:t>Whichever you choose: pick one, use it for everything, and never apply DDL by hand again. That</a:t>
            </a:r>
          </a:p>
          <a:p>
            <a:r>
              <a:t>decision matters more than which name you pick.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the flow once, top to bottom. Two configs, two datasources, two migration runners, two</a:t>
            </a:r>
          </a:p>
          <a:p>
            <a:r>
              <a:t>JdbcTemplates guarded by @DependsOn so nothing can read before migration completes.</a:t>
            </a:r>
          </a:p>
          <a:p>
            <a:r>
              <a:t>Both history services implement the same MigrationHistoryProvider interface, which is what lets</a:t>
            </a:r>
          </a:p>
          <a:p>
            <a:r>
              <a:t>ComparisonService treat the engines symmetrically. The implementations are asymmetric for a reason</a:t>
            </a:r>
          </a:p>
          <a:p>
            <a:r>
              <a:t>that is itself a finding: one calls an API, the other writes SQL.</a:t>
            </a:r>
          </a:p>
          <a:p>
            <a:r>
              <a:t>FeatureMatrix is a static immutable list, not a database table. It is documentation that happens to</a:t>
            </a:r>
          </a:p>
          <a:p>
            <a:r>
              <a:t>be served over HTTP, and it changes only when the tools do.</a:t>
            </a:r>
          </a:p>
          <a:p>
            <a:r>
              <a:t>Excluding DataSourceAutoConfiguration is deliberate: with two datasources, explicit wiring is both</a:t>
            </a:r>
          </a:p>
          <a:p>
            <a:r>
              <a:t>correct and more instructive.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are demoing live, this is the moment. Start with /api/v1/comparison and scroll to</a:t>
            </a:r>
          </a:p>
          <a:p>
            <a:r>
              <a:t>schemasEquivalent: true - that is the payoff of the whole talk in one field.</a:t>
            </a:r>
          </a:p>
          <a:p>
            <a:r>
              <a:t>Then open /api/v1/migrations and put the two arrays side by side. The Flyway entries carry</a:t>
            </a:r>
          </a:p>
          <a:p>
            <a:r>
              <a:t>executionTimeMs and author "n/a". The Liquibase entries carry a real author and a null</a:t>
            </a:r>
          </a:p>
          <a:p>
            <a:r>
              <a:t>executionTimeMs. That contrast in raw JSON makes the bookkeeping slide concrete.</a:t>
            </a:r>
          </a:p>
          <a:p>
            <a:r>
              <a:t>If you have the H2 console open, connect to jdbc:h2:file:./data/flywaydb and then ./data/liquibasedb</a:t>
            </a:r>
          </a:p>
          <a:p>
            <a:r>
              <a:t>and show the two bookkeeping tables next to each other. Credentials are sa with an empty password.</a:t>
            </a:r>
          </a:p>
          <a:p>
            <a:r>
              <a:t>Everything runs on a laptop with no Docker and no external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one-line summary: both tools produce the same schema, so choose on process, not on</a:t>
            </a:r>
          </a:p>
          <a:p>
            <a:r>
              <a:t>outcome.</a:t>
            </a:r>
          </a:p>
          <a:p>
            <a:r>
              <a:t>Questions you should expect:</a:t>
            </a:r>
          </a:p>
          <a:p>
            <a:r>
              <a:t>- "Can I migrate from Flyway to Liquibase?" Yes, in both directions. Liquibase can generate a</a:t>
            </a:r>
          </a:p>
          <a:p>
            <a:r>
              <a:t>  changelog from an existing database, and you mark everything up to now as already-run.</a:t>
            </a:r>
          </a:p>
          <a:p>
            <a:r>
              <a:t>- "What about using both?" Technically possible with separate schemas, but you now maintain two</a:t>
            </a:r>
          </a:p>
          <a:p>
            <a:r>
              <a:t>  mental models. Do not.</a:t>
            </a:r>
          </a:p>
          <a:p>
            <a:r>
              <a:t>- "Does this work outside Spring Boot?" Both have Maven, Gradle and CLI interfaces. Nothing in this</a:t>
            </a:r>
          </a:p>
          <a:p>
            <a:r>
              <a:t>  comparison depends on Spring.</a:t>
            </a:r>
          </a:p>
          <a:p>
            <a:r>
              <a:t>- "Which do you use?" Answer honestly, and say why in terms of the decision-guide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71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5400" b="1">
                <a:solidFill>
                  <a:srgbClr val="F43F5E"/>
                </a:solidFill>
                <a:latin typeface="Calibri"/>
              </a:rPr>
              <a:t>Flyway</a:t>
            </a:r>
            <a:r>
              <a:rPr sz="5400" b="1">
                <a:solidFill>
                  <a:srgbClr val="94A3B8"/>
                </a:solidFill>
                <a:latin typeface="Calibri"/>
              </a:rPr>
              <a:t>  vs  </a:t>
            </a:r>
            <a:r>
              <a:rPr sz="5400" b="1">
                <a:solidFill>
                  <a:srgbClr val="22D3EE"/>
                </a:solidFill>
                <a:latin typeface="Calibri"/>
              </a:rPr>
              <a:t>Liquibase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1094415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200"/>
              </a:spcAft>
            </a:pPr>
            <a:r>
              <a:rPr sz="2400" b="0" i="0">
                <a:solidFill>
                  <a:srgbClr val="E2E8F0"/>
                </a:solidFill>
                <a:latin typeface="Calibri"/>
              </a:rPr>
              <a:t>A measured comparison, not an opinion</a:t>
            </a:r>
          </a:p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BBF24"/>
                </a:solidFill>
                <a:latin typeface="Calibri"/>
              </a:rPr>
              <a:t>Wallace Espindola</a:t>
            </a:r>
          </a:p>
          <a:p>
            <a:pPr algn="l">
              <a:spcAft>
                <a:spcPts val="18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Senior Software Engineer &amp; Solution Architect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2E8F0"/>
                </a:solidFill>
                <a:latin typeface="Calibri"/>
              </a:rPr>
              <a:t>github.com/wallaceespindola   |   linkedin.com/in/wallaceespindola</a:t>
            </a:r>
          </a:p>
          <a:p>
            <a:pPr algn="l">
              <a:spcAft>
                <a:spcPts val="1800"/>
              </a:spcAft>
            </a:pPr>
            <a:r>
              <a:rPr sz="1400" b="0" i="0">
                <a:solidFill>
                  <a:srgbClr val="E2E8F0"/>
                </a:solidFill>
                <a:latin typeface="Calibri"/>
              </a:rPr>
              <a:t>github.com/wallaceespindola/flyway-vs-liquibase-db-migrations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4A3B8"/>
                </a:solidFill>
                <a:latin typeface="Calibri"/>
              </a:rPr>
              <a:t>Spring Boot 3.4.2  ·  Java 21  ·  Maven  ·  H2  ·  plain JDBC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2E8F0"/>
                </a:solidFill>
                <a:latin typeface="Calibri"/>
              </a:rPr>
              <a:t>The problem: schema drift and manual DDL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46304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E2E8F0"/>
                </a:solidFill>
                <a:latin typeface="Calibri"/>
              </a:rPr>
              <a:t>•  Application code is versioned, reviewed and rolled forward. The schema often is not.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E2E8F0"/>
                </a:solidFill>
                <a:latin typeface="Calibri"/>
              </a:rPr>
              <a:t>•  “Run this script on prod” in a chat message is not a deployment process.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E2E8F0"/>
                </a:solidFill>
                <a:latin typeface="Calibri"/>
              </a:rPr>
              <a:t>•  Environments diverge silently: dev has the column, prod has it with a different type.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E2E8F0"/>
                </a:solidFill>
                <a:latin typeface="Calibri"/>
              </a:rPr>
              <a:t>•  Nobody can answer “which changes has this database actually seen?”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E2E8F0"/>
                </a:solidFill>
                <a:latin typeface="Calibri"/>
              </a:rPr>
              <a:t>•  Rebuilding an environment from scratch becomes archaeology.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Flyway vs Liquibase  |  Wallace Espindola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2E8F0"/>
                </a:solidFill>
                <a:latin typeface="Calibri"/>
              </a:rPr>
              <a:t>Why migration tooling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46304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</a:rPr>
              <a:t>Four properties that scripts in a wiki do not give you: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094415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E2E8F0"/>
                </a:solidFill>
                <a:latin typeface="Calibri"/>
              </a:rPr>
              <a:t>•  Ordering — changes apply in a defined sequence, once, everywhere.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E2E8F0"/>
                </a:solidFill>
                <a:latin typeface="Calibri"/>
              </a:rPr>
              <a:t>•  Bookkeeping — a table inside the database records what has been applied.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E2E8F0"/>
                </a:solidFill>
                <a:latin typeface="Calibri"/>
              </a:rPr>
              <a:t>•  Integrity — a checksum detects edits to already-applied changes.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E2E8F0"/>
                </a:solidFill>
                <a:latin typeface="Calibri"/>
              </a:rPr>
              <a:t>•  Automation — migration runs at startup or in the pipeline, not by hand.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634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Flyway and Liquibase both deliver all four. Everything else is about how.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Flyway vs Liquibase  |  Wallace Espindola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2E8F0"/>
                </a:solidFill>
                <a:latin typeface="Calibri"/>
              </a:rPr>
              <a:t>How Flyway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46304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E2E8F0"/>
                </a:solidFill>
                <a:latin typeface="Calibri"/>
              </a:rPr>
              <a:t>•  Drop SQL files into a location: V1__create_category_table.sql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E2E8F0"/>
                </a:solidFill>
                <a:latin typeface="Calibri"/>
              </a:rPr>
              <a:t>•  The filename IS the configuration: V = versioned, 1 = order, rest = description.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E2E8F0"/>
                </a:solidFill>
                <a:latin typeface="Calibri"/>
              </a:rPr>
              <a:t>•  R__ prefix marks a repeatable migration, re-applied when its checksum changes.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E2E8F0"/>
                </a:solidFill>
                <a:latin typeface="Calibri"/>
              </a:rPr>
              <a:t>•  Flyway scans, sorts by version, runs what is not yet in flyway_schema_history.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E2E8F0"/>
                </a:solidFill>
                <a:latin typeface="Calibri"/>
              </a:rPr>
              <a:t>•  Scripts are raw SQL in the target dialect. No abstraction layer.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77639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43F5E"/>
                </a:solidFill>
                <a:latin typeface="Calibri"/>
              </a:rPr>
              <a:t>config/FlywayConfig.java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279391"/>
            <a:ext cx="11094415" cy="1564002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146304" tIns="91440" bIns="91440"/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Flyway.configure()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    .dataSource(dataSource)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    .locations("classpath:db/migration")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    .baselineOnMigrate(true)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    .validateOnMigrate(true)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    .load();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Flyway vs Liquibase  |  Wallace Espindola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2E8F0"/>
                </a:solidFill>
                <a:latin typeface="Calibri"/>
              </a:rPr>
              <a:t>How Liquibase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E2E8F0"/>
                </a:solidFill>
                <a:latin typeface="Calibri"/>
              </a:rPr>
              <a:t>•  A changeset is the unit of change: id + author + source file identify it.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E2E8F0"/>
                </a:solidFill>
                <a:latin typeface="Calibri"/>
              </a:rPr>
              <a:t>•  Changesets live in XML, YAML, JSON or SQL — all first-class, all mixable.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E2E8F0"/>
                </a:solidFill>
                <a:latin typeface="Calibri"/>
              </a:rPr>
              <a:t>•  A master changelog lists every included file. Ordering is declared, not inferred.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E2E8F0"/>
                </a:solidFill>
                <a:latin typeface="Calibri"/>
              </a:rPr>
              <a:t>•  Changesets are database-agnostic; Liquibase emits the dialect at runtime.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E2E8F0"/>
                </a:solidFill>
                <a:latin typeface="Calibri"/>
              </a:rPr>
              <a:t>•  preConditions, context, labels, rollback, runOnChange are per-changeset attributes.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config/LiquibaseConfig.java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416552"/>
            <a:ext cx="11094415" cy="1333815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146304" tIns="91440" bIns="91440"/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SpringLiquibase liquibase = new SpringLiquibase();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liquibase.setDataSource(dataSource);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liquibase.setChangeLog("classpath:db/changelog/db.changelog-master.yaml");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liquibase.setContexts("demo");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liquibase.setDefaultSchema("PUBLIC");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Flyway vs Liquibase  |  Wallace Espindola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2E8F0"/>
                </a:solidFill>
                <a:latin typeface="Calibri"/>
              </a:rPr>
              <a:t>The experiment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46304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94A3B8"/>
                </a:solidFill>
                <a:latin typeface="Calibri"/>
              </a:rPr>
              <a:t>Two independent H2 databases. One identical logical schema. One JVM, port 8080.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874519"/>
          <a:ext cx="11094414" cy="2029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7120"/>
                <a:gridCol w="4578647"/>
                <a:gridCol w="4578647"/>
              </a:tblGrid>
              <a:tr h="3383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BBF2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BBF24"/>
                          </a:solidFill>
                          <a:latin typeface="Calibri"/>
                        </a:rPr>
                        <a:t>Flyway side</a:t>
                      </a:r>
                    </a:p>
                  </a:txBody>
                  <a:tcPr marL="73152" marR="73152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BBF24"/>
                          </a:solidFill>
                          <a:latin typeface="Calibri"/>
                        </a:rPr>
                        <a:t>Liquibase side</a:t>
                      </a:r>
                    </a:p>
                  </a:txBody>
                  <a:tcPr marL="73152" marR="73152" anchor="ctr">
                    <a:solidFill>
                      <a:srgbClr val="334155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./data/flywaydb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./data/liquibasedb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Wiring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FlywayConfig @Configuration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LiquibaseConfig @Configuration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Runner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Flyway.migrate() on bean init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SpringLiquibase on bean init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Reader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flywayJdbcTemplate (@DependsOn)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liquibaseJdbcTemplate (@DependsOn)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Changes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6 versioned + repeatable SQL files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7 changesets in 6 changelog files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3434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BBF24"/>
                </a:solidFill>
                <a:latin typeface="Calibri"/>
              </a:rPr>
              <a:t>The app then reads both schemas from INFORMATION_SCHEMA and diffs them at runtime.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Flyway vs Liquibase  |  Wallace Espindola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2E8F0"/>
                </a:solidFill>
                <a:latin typeface="Calibri"/>
              </a:rPr>
              <a:t>Flyway migrations: the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46304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Consolas"/>
              </a:rPr>
              <a:t>src/main/resources/db/migration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94414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8288"/>
                <a:gridCol w="6526126"/>
              </a:tblGrid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BBF24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73152" marR="73152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BBF24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3152" marR="73152" anchor="ctr">
                    <a:solidFill>
                      <a:srgbClr val="334155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V1__create_category_table.sql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category table + unique name + index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V2__create_product_table.sql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product + FK, 2 check constraints, 2 indexes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V3__seed_reference_data.sql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3 categories, 5 products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V4__add_product_audit_table.sql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product_audit + FK + backfill from product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V5__add_product_active_flag.sql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ADD COLUMN active + backfill + index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33702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R__product_catalog_view.sql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v_product_catalog, repeatable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61772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43F5E"/>
                </a:solidFill>
                <a:latin typeface="Calibri"/>
              </a:rPr>
              <a:t>6 migrations applied.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Flyway vs Liquibase  |  Wallace Espindola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2E8F0"/>
                </a:solidFill>
                <a:latin typeface="Calibri"/>
              </a:rPr>
              <a:t>Flyway code: expand/contract and repeatable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463040" cy="3810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43F5E"/>
                </a:solidFill>
                <a:latin typeface="Calibri"/>
              </a:rPr>
              <a:t>V5__add_product_active_flag.sql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73352"/>
            <a:ext cx="11094415" cy="1564002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146304" tIns="91440" bIns="91440"/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ALTER TABLE product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  ADD COLUMN active BOOLEAN NOT NULL DEFAULT TRUE;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UPDATE product SET active = FALSE WHERE stock_quantity = 0;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CREATE INDEX idx_product_active ON product (active);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57394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43F5E"/>
                </a:solidFill>
                <a:latin typeface="Calibri"/>
              </a:rPr>
              <a:t>R__product_catalog_view.sql  —  re-runs when the checksum changes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859146"/>
            <a:ext cx="11094415" cy="1333815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146304" tIns="91440" bIns="91440"/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CREATE OR REPLACE VIEW v_product_catalog AS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SELECT p.id AS product_id, p.sku, p.name AS product_name,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     p.price, p.stock_quantity, p.active,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     c.id AS category_id, c.name AS category_name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FROM product p JOIN category c ON c.id = p.category_id;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Flyway vs Liquibase  |  Wallace Espindola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2E8F0"/>
                </a:solidFill>
                <a:latin typeface="Calibri"/>
              </a:rPr>
              <a:t>Liquibase changelog: the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db/changelog/db.changelog-master.yaml includes six files, in three formats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19072"/>
          <a:ext cx="11094413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1264"/>
                <a:gridCol w="1273129"/>
                <a:gridCol w="5820020"/>
              </a:tblGrid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BBF24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73152" marR="73152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BBF24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marL="73152" marR="73152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BBF24"/>
                          </a:solidFill>
                          <a:latin typeface="Calibri"/>
                        </a:rPr>
                        <a:t>What it demonstrates</a:t>
                      </a:r>
                    </a:p>
                  </a:txBody>
                  <a:tcPr marL="73152" marR="73152" anchor="ctr">
                    <a:solidFill>
                      <a:srgbClr val="334155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001-create-category-table.xml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XML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portable createTable + explicit rollback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002-create-product-table.yaml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YAML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terser diff; raw SQL for check constraints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003-seed-reference-data.sql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SQL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--liquibase formatted sql, --rollback directives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004-add-product-audit-table.xml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XML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preConditions + rollback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005-add-product-active-flag.xml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XML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context + labels, two changesets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33702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006-product-catalog-view.xml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XML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runOnChange="true"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5720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2D3EE"/>
                </a:solidFill>
                <a:latin typeface="Calibri"/>
              </a:rPr>
              <a:t>7 changesets applied — 005 contains two: the column and the backfill.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Flyway vs Liquibase  |  Wallace Espindola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2E8F0"/>
                </a:solidFill>
                <a:latin typeface="Calibri"/>
              </a:rPr>
              <a:t>Liquibase code: preconditions and rollback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46304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db/changelog/changes/004-add-product-audit-table.xml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73352"/>
            <a:ext cx="11094415" cy="340549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146304" tIns="91440" bIns="91440"/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&lt;changeSet id="004-add-product-audit-table" author="wallaceespindola" context="demo"&gt;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&lt;preConditions onFail="MARK_RAN"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               onFailMessage="product table missing, skipping audit table"&gt;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  &lt;tableExists tableName="product"/&gt;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&lt;/preConditions&gt;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&lt;createTable tableName="product_audit"&gt; ... &lt;/createTable&gt;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&lt;createIndex tableName="product_audit" indexName="idx_product_audit_product"&gt; ... &lt;/createIndex&gt;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&lt;rollback&gt;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  &lt;dropIndex tableName="product_audit" indexName="idx_product_audit_product"/&gt;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  &lt;dropTable tableName="product_audit"/&gt;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&lt;/rollback&gt;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&lt;/changeSet&gt;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This changeset has no Flyway Community equivalent.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Flyway vs Liquibase  |  Wallace Espindola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2E8F0"/>
                </a:solidFill>
                <a:latin typeface="Calibri"/>
              </a:rPr>
              <a:t>Side by side: the same table, two 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46304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43F5E"/>
                </a:solidFill>
                <a:latin typeface="Calibri"/>
              </a:rPr>
              <a:t>Flyway — V1__create_category_table.sql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73352"/>
            <a:ext cx="11094415" cy="1333815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146304" tIns="91440" bIns="91440"/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CREATE TABLE category (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  id          BIGINT AUTO_INCREMENT PRIMARY KEY,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  name        VARCHAR(100) NOT NULL,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  created_at  TIMESTAMP NOT NULL DEFAULT CURRENT_TIMESTAMP,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  CONSTRAINT uk_category_name UNIQUE (name));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27207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Liquibase — 001-create-category-table.xml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28959"/>
            <a:ext cx="11094415" cy="1564002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146304" tIns="91440" bIns="91440"/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&lt;createTable tableName="category"&gt;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&lt;column name="id" type="BIGINT" autoIncrement="true"&gt;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  &lt;constraints primaryKey="true" primaryKeyName="pk_category" nullable="false"/&gt;&lt;/column&gt;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&lt;column name="name" type="VARCHAR(100)"&gt;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  &lt;constraints nullable="false" unique="true" uniqueConstraintName="uk_category_name"/&gt;&lt;/column&gt;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&lt;/createTable&gt;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Flyway vs Liquibase  |  Wallace Espindola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2E8F0"/>
                </a:solidFill>
                <a:latin typeface="Calibri"/>
              </a:rPr>
              <a:t>Bookkeeping: what each engine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46304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3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323"/>
                <a:gridCol w="4402545"/>
                <a:gridCol w="4402545"/>
              </a:tblGrid>
              <a:tr h="33604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BBF24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3152" marR="73152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BBF24"/>
                          </a:solidFill>
                          <a:latin typeface="Calibri"/>
                        </a:rPr>
                        <a:t>flyway_schema_history</a:t>
                      </a:r>
                    </a:p>
                  </a:txBody>
                  <a:tcPr marL="73152" marR="73152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BBF24"/>
                          </a:solidFill>
                          <a:latin typeface="Calibri"/>
                        </a:rPr>
                        <a:t>DATABASECHANGELOG</a:t>
                      </a:r>
                    </a:p>
                  </a:txBody>
                  <a:tcPr marL="73152" marR="73152" anchor="ctr">
                    <a:solidFill>
                      <a:srgbClr val="334155"/>
                    </a:solidFill>
                  </a:tcPr>
                </a:tc>
              </a:tr>
              <a:tr h="33604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Identity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version (single ordered namespace)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id + author + filename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33604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Author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not recorded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mandatory attribute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</a:tr>
              <a:tr h="33604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Checksum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CRC32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MD5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33604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Execution time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yes, milliseconds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not recorded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</a:tr>
              <a:tr h="33604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Contexts / labels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not applicable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recorded per changeset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33604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Deployment id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not recorded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recorded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</a:tr>
              <a:tr h="33604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Locking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database-level lock during run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50" b="0" i="0">
                          <a:solidFill>
                            <a:srgbClr val="E2E8F0"/>
                          </a:solidFill>
                          <a:latin typeface="Calibri"/>
                        </a:rPr>
                        <a:t>DATABASECHANGELOGLOCK table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Flyway vs Liquibase  |  Wallace Espindola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2E8F0"/>
                </a:solidFill>
                <a:latin typeface="Calibri"/>
              </a:rPr>
              <a:t>Reading the history: two different APIs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46304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43F5E"/>
                </a:solidFill>
                <a:latin typeface="Calibri"/>
              </a:rPr>
              <a:t>Flyway — an embedded status API, no SQL needed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73352"/>
            <a:ext cx="11094415" cy="643254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146304" tIns="91440" bIns="91440"/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MigrationInfo[] all = flyway.info().all();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94A3B8"/>
                </a:solidFill>
                <a:latin typeface="Consolas"/>
              </a:rPr>
              <a:t>// applied + pending, ordered, with state, checksum and executionTime attached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82366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Liquibase — query the bookkeeping table yourself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84118"/>
            <a:ext cx="11094415" cy="873441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146304" tIns="91440" bIns="91440"/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SELECT ID, AUTHOR, FILENAME, DATEEXECUTED, ORDEREXECUTED, EXECTYPE,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     MD5SUM, DESCRIPTION, COMMENTS, CONTEXTS, LABELS, DEPLOYMENT_ID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FROM DATABASECHANGELOG ORDER BY ORDEREXECUTED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BBF24"/>
                </a:solidFill>
                <a:latin typeface="Calibri"/>
              </a:rPr>
              <a:t>Liquibase has no lightweight read-only status API. The table is the public interface.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Flyway vs Liquibase  |  Wallace Espindola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2E8F0"/>
                </a:solidFill>
                <a:latin typeface="Calibri"/>
              </a:rPr>
              <a:t>The measured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46304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</a:rPr>
              <a:t>GET /api/v1/comparison on the running application returns: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19072"/>
            <a:ext cx="11094415" cy="80899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146304" tIns="91440" bIns="91440"/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CBD5E1"/>
                </a:solidFill>
                <a:latin typeface="Consolas"/>
              </a:rPr>
              <a:t>"schemasEquivalent": true,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CBD5E1"/>
                </a:solidFill>
                <a:latin typeface="Consolas"/>
              </a:rPr>
              <a:t>"schemaDifferences": []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1094415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E2E8F0"/>
                </a:solidFill>
                <a:latin typeface="Calibri"/>
              </a:rPr>
              <a:t>•  Tables on both sides: category, product, product_audit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E2E8F0"/>
                </a:solidFill>
                <a:latin typeface="Calibri"/>
              </a:rPr>
              <a:t>•  View on both sides: v_product_catalog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E2E8F0"/>
                </a:solidFill>
                <a:latin typeface="Calibri"/>
              </a:rPr>
              <a:t>•  Columns compared as TABLE.COLUMN:TYPE — zero differences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E2E8F0"/>
                </a:solidFill>
                <a:latin typeface="Calibri"/>
              </a:rPr>
              <a:t>•  Only difference: flyway_schema_history vs DATABASECHANGELOG + ...LOCK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Flyway vs Liquibase  |  Wallace Espindola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2E8F0"/>
                </a:solidFill>
                <a:latin typeface="Calibri"/>
              </a:rPr>
              <a:t>Feature matrix (1 of 3) — authoring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46304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3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5509"/>
                <a:gridCol w="3887094"/>
                <a:gridCol w="3887094"/>
                <a:gridCol w="1214716"/>
              </a:tblGrid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BBF24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73152" marR="73152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43F5E"/>
                          </a:solidFill>
                          <a:latin typeface="Calibri"/>
                        </a:rPr>
                        <a:t>Flyway</a:t>
                      </a:r>
                    </a:p>
                  </a:txBody>
                  <a:tcPr marL="73152" marR="73152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22D3EE"/>
                          </a:solidFill>
                          <a:latin typeface="Calibri"/>
                        </a:rPr>
                        <a:t>Liquibase</a:t>
                      </a:r>
                    </a:p>
                  </a:txBody>
                  <a:tcPr marL="73152" marR="73152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BBF24"/>
                          </a:solidFill>
                          <a:latin typeface="Calibri"/>
                        </a:rPr>
                        <a:t>Edge</a:t>
                      </a:r>
                    </a:p>
                  </a:txBody>
                  <a:tcPr marL="73152" marR="73152" anchor="ctr">
                    <a:solidFill>
                      <a:srgbClr val="334155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Change format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Plain SQL only (Community); Java migrations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XML, YAML, JSON or SQL, mixable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Calibri"/>
                        </a:rPr>
                        <a:t>Liquibase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Learning curve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One naming convention: V1__name.sql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Changeset model, changelog composition, tags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43F5E"/>
                          </a:solidFill>
                          <a:latin typeface="Calibri"/>
                        </a:rPr>
                        <a:t>Flyway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Database portability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None — scripts are in the target dialect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Abstract changesets; dialect at runtime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Calibri"/>
                        </a:rPr>
                        <a:t>Liquibase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Migration discovery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Convention: scan a location, order by version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Explicit master changelog lists every file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43F5E"/>
                          </a:solidFill>
                          <a:latin typeface="Calibri"/>
                        </a:rPr>
                        <a:t>Flyway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Repeatable changes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R__ scripts, re-run on checksum change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runOnChange="true" on any changeset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94A3B8"/>
                          </a:solidFill>
                          <a:latin typeface="Calibri"/>
                        </a:rPr>
                        <a:t>Tie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33702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Review ergonomics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Diffs are SQL — every reviewer reads it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Diffs are tags — must know what they emit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43F5E"/>
                          </a:solidFill>
                          <a:latin typeface="Calibri"/>
                        </a:rPr>
                        <a:t>Flyway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Flyway vs Liquibase  |  Wallace Espindola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2E8F0"/>
                </a:solidFill>
                <a:latin typeface="Calibri"/>
              </a:rPr>
              <a:t>Feature matrix (2 of 3) —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46304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3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471"/>
                <a:gridCol w="3806113"/>
                <a:gridCol w="3806113"/>
                <a:gridCol w="1214716"/>
              </a:tblGrid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BBF24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73152" marR="73152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43F5E"/>
                          </a:solidFill>
                          <a:latin typeface="Calibri"/>
                        </a:rPr>
                        <a:t>Flyway</a:t>
                      </a:r>
                    </a:p>
                  </a:txBody>
                  <a:tcPr marL="73152" marR="73152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22D3EE"/>
                          </a:solidFill>
                          <a:latin typeface="Calibri"/>
                        </a:rPr>
                        <a:t>Liquibase</a:t>
                      </a:r>
                    </a:p>
                  </a:txBody>
                  <a:tcPr marL="73152" marR="73152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BBF24"/>
                          </a:solidFill>
                          <a:latin typeface="Calibri"/>
                        </a:rPr>
                        <a:t>Edge</a:t>
                      </a:r>
                    </a:p>
                  </a:txBody>
                  <a:tcPr marL="73152" marR="73152" anchor="ctr">
                    <a:solidFill>
                      <a:srgbClr val="334155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Rollback / undo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Not in Community; undo is a Teams feature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Built in: inferred, or declared &lt;rollback&gt;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Calibri"/>
                        </a:rPr>
                        <a:t>Liquibase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Conditional execution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Placeholders, per-environment locations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Preconditions, contexts, labels per changeset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Calibri"/>
                        </a:rPr>
                        <a:t>Liquibase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Drift detection / diff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Not available in Community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diff and diffChangeLog generate the delta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Calibri"/>
                        </a:rPr>
                        <a:t>Liquibase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Concurrency safety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Database-level lock for the migration run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Dedicated DATABASECHANGELOGLOCK table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94A3B8"/>
                          </a:solidFill>
                          <a:latin typeface="Calibri"/>
                        </a:rPr>
                        <a:t>Tie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Spring Boot integration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spring.flyway.*, runs before JPA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spring.liquibase.*, same lifecycle position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94A3B8"/>
                          </a:solidFill>
                          <a:latin typeface="Calibri"/>
                        </a:rPr>
                        <a:t>Tie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33702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Execution timing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Yes, per migration, in milliseconds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No per-changeset duration persisted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43F5E"/>
                          </a:solidFill>
                          <a:latin typeface="Calibri"/>
                        </a:rPr>
                        <a:t>Flyway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Flyway vs Liquibase  |  Wallace Espindola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2E8F0"/>
                </a:solidFill>
                <a:latin typeface="Calibri"/>
              </a:rPr>
              <a:t>Feature matrix (3 of 3) —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46304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3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471"/>
                <a:gridCol w="3806113"/>
                <a:gridCol w="3806113"/>
                <a:gridCol w="1214716"/>
              </a:tblGrid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BBF24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73152" marR="73152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43F5E"/>
                          </a:solidFill>
                          <a:latin typeface="Calibri"/>
                        </a:rPr>
                        <a:t>Flyway</a:t>
                      </a:r>
                    </a:p>
                  </a:txBody>
                  <a:tcPr marL="73152" marR="73152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22D3EE"/>
                          </a:solidFill>
                          <a:latin typeface="Calibri"/>
                        </a:rPr>
                        <a:t>Liquibase</a:t>
                      </a:r>
                    </a:p>
                  </a:txBody>
                  <a:tcPr marL="73152" marR="73152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BBF24"/>
                          </a:solidFill>
                          <a:latin typeface="Calibri"/>
                        </a:rPr>
                        <a:t>Edge</a:t>
                      </a:r>
                    </a:p>
                  </a:txBody>
                  <a:tcPr marL="73152" marR="73152" anchor="ctr">
                    <a:solidFill>
                      <a:srgbClr val="334155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History bookkeeping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version, description, checksum, timing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id, author, contexts, labels, deployment id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Calibri"/>
                        </a:rPr>
                        <a:t>Liquibase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Embedded status API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flyway.info() returns applied and pending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No read API — query DATABASECHANGELOG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43F5E"/>
                          </a:solidFill>
                          <a:latin typeface="Calibri"/>
                        </a:rPr>
                        <a:t>Flyway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Authorship tracking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Not recorded; lives in version control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author is mandatory on every changeset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Calibri"/>
                        </a:rPr>
                        <a:t>Liquibase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Checksum protection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CRC32; editing an applied migration fails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MD5; same, plus runOnChange opt-out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94A3B8"/>
                          </a:solidFill>
                          <a:latin typeface="Calibri"/>
                        </a:rPr>
                        <a:t>Tie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Merge conflict profile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Same version in two branches collides loudly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Conflicts in the master include list auto-merge wrongly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43F5E"/>
                          </a:solidFill>
                          <a:latin typeface="Calibri"/>
                        </a:rPr>
                        <a:t>Flyway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33702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Licensing of advanced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undo, dry-run, drift are paid Teams/Enterprise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E2E8F0"/>
                          </a:solidFill>
                          <a:latin typeface="Calibri"/>
                        </a:rPr>
                        <a:t>Rollback and diff open source; policy checks Pro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2D3EE"/>
                          </a:solidFill>
                          <a:latin typeface="Calibri"/>
                        </a:rPr>
                        <a:t>Liquibase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Flyway vs Liquibase  |  Wallace Espindola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2E8F0"/>
                </a:solidFill>
                <a:latin typeface="Calibri"/>
              </a:rPr>
              <a:t>The rollback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46304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43F5E"/>
                </a:solidFill>
                <a:latin typeface="Calibri"/>
              </a:rPr>
              <a:t>Flyway Community — no undo; reverting means a new forward migration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73352"/>
            <a:ext cx="11094415" cy="643254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146304" tIns="91440" bIns="91440"/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94A3B8"/>
                </a:solidFill>
                <a:latin typeface="Consolas"/>
              </a:rPr>
              <a:t>-- V6__drop_product_audit_table.sql   (the only Community option)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DROP TABLE product_audit;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82366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Liquibase — rollback declared next to the change it reverses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84118"/>
            <a:ext cx="11094415" cy="1103628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146304" tIns="91440" bIns="91440"/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&lt;rollback&gt;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&lt;dropIndex tableName="product_audit" indexName="idx_product_audit_product"/&gt;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  &lt;dropTable tableName="product_audit"/&gt;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CBD5E1"/>
                </a:solidFill>
                <a:latin typeface="Consolas"/>
              </a:rPr>
              <a:t>&lt;/rollback&gt;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6344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BBF24"/>
                </a:solidFill>
                <a:latin typeface="Calibri"/>
              </a:rPr>
              <a:t>liquibase rollbackCount 1 is a supported operation.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94A3B8"/>
                </a:solidFill>
                <a:latin typeface="Calibri"/>
              </a:rPr>
              <a:t>Every changeset in this repository declares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Flyway vs Liquibase  |  Wallace Espindola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2E8F0"/>
                </a:solidFill>
                <a:latin typeface="Calibri"/>
              </a:rPr>
              <a:t>The portability story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46304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4415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E2E8F0"/>
                </a:solidFill>
                <a:latin typeface="Calibri"/>
              </a:rPr>
              <a:t>•  Flyway scripts are the target dialect. AUTO_INCREMENT is H2 and MySQL;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E2E8F0"/>
                </a:solidFill>
                <a:latin typeface="Calibri"/>
              </a:rPr>
              <a:t>•  PostgreSQL wants GENERATED ALWAYS AS IDENTITY. Changing engine means rewriting.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E2E8F0"/>
                </a:solidFill>
                <a:latin typeface="Calibri"/>
              </a:rPr>
              <a:t>•  Liquibase changesets are abstract: autoIncrement="true" becomes what the target needs.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E2E8F0"/>
                </a:solidFill>
                <a:latin typeface="Calibri"/>
              </a:rPr>
              <a:t>•  But portability holds only while you stay inside the tag vocabulary.</a:t>
            </a:r>
          </a:p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E2E8F0"/>
                </a:solidFill>
                <a:latin typeface="Calibri"/>
              </a:rPr>
              <a:t>•  The repo shows the seam: check constraints have no portable tag, so 002 drops to &lt;sql&gt;.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002-create-product-table.yaml — portability has a boundary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507992"/>
            <a:ext cx="11094415" cy="1066796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146304" tIns="91440" bIns="9144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Consolas"/>
              </a:rPr>
              <a:t>- sql: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Consolas"/>
              </a:rPr>
              <a:t>    comment: Check constraints have no portable Liquibase tag, so raw SQL is used here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Consolas"/>
              </a:rPr>
              <a:t>    sql: &gt;-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CBD5E1"/>
                </a:solidFill>
                <a:latin typeface="Consolas"/>
              </a:rPr>
              <a:t>      ALTER TABLE product ADD CONSTRAINT ck_product_price_positive CHECK (price &gt;= 0);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Flyway vs Liquibase  |  Wallace Espindola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2E8F0"/>
                </a:solidFill>
                <a:latin typeface="Calibri"/>
              </a:rPr>
              <a:t>Review and merge-conflict ergonomics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46304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43F5E"/>
                </a:solidFill>
                <a:latin typeface="Calibri"/>
              </a:rPr>
              <a:t>Flyway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318607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E2E8F0"/>
                </a:solidFill>
                <a:latin typeface="Calibri"/>
              </a:rPr>
              <a:t>•  The pull request diff is SQL. Every reviewer already reads it.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E2E8F0"/>
                </a:solidFill>
                <a:latin typeface="Calibri"/>
              </a:rPr>
              <a:t>•  Two branches adding V6__ collide on the filename.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E2E8F0"/>
                </a:solidFill>
                <a:latin typeface="Calibri"/>
              </a:rPr>
              <a:t>•  Loud, immediate, unmissable — the fix is renaming a file.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1371600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2D3EE"/>
                </a:solidFill>
                <a:latin typeface="Calibri"/>
              </a:rPr>
              <a:t>Liquibase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920240"/>
            <a:ext cx="5318607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E2E8F0"/>
                </a:solidFill>
                <a:latin typeface="Calibri"/>
              </a:rPr>
              <a:t>•  The diff is XML or YAML tags; reviewers must know what each emits.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E2E8F0"/>
                </a:solidFill>
                <a:latin typeface="Calibri"/>
              </a:rPr>
              <a:t>•  Two branches appending to the master changelog conflict in the include list.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E2E8F0"/>
                </a:solidFill>
                <a:latin typeface="Calibri"/>
              </a:rPr>
              <a:t>•  Git can auto-merge that list into the wrong order. Nothing fails until deploy.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Flyway vs Liquibase  |  Wallace Espindola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2E8F0"/>
                </a:solidFill>
                <a:latin typeface="Calibri"/>
              </a:rPr>
              <a:t>Decision guide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46304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43F5E"/>
                </a:solidFill>
                <a:latin typeface="Calibri"/>
              </a:rPr>
              <a:t>Choose Flyway when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318607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E2E8F0"/>
                </a:solidFill>
                <a:latin typeface="Calibri"/>
              </a:rPr>
              <a:t>•  You target one database and expect to keep targeting it.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E2E8F0"/>
                </a:solidFill>
                <a:latin typeface="Calibri"/>
              </a:rPr>
              <a:t>•  Your team is fluent in SQL and wants readable review diffs.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E2E8F0"/>
                </a:solidFill>
                <a:latin typeface="Calibri"/>
              </a:rPr>
              <a:t>•  Forward-only migration fits your release process.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E2E8F0"/>
                </a:solidFill>
                <a:latin typeface="Calibri"/>
              </a:rPr>
              <a:t>•  You want the smallest thing between intent and executed statement.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1371600"/>
            <a:ext cx="531860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2D3EE"/>
                </a:solidFill>
                <a:latin typeface="Calibri"/>
              </a:rPr>
              <a:t>Choose Liquibase when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920240"/>
            <a:ext cx="5318607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E2E8F0"/>
                </a:solidFill>
                <a:latin typeface="Calibri"/>
              </a:rPr>
              <a:t>•  You ship to several engines, or customers choose the engine.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E2E8F0"/>
                </a:solidFill>
                <a:latin typeface="Calibri"/>
              </a:rPr>
              <a:t>•  You need rollback, preconditions or conditional execution first-class.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E2E8F0"/>
                </a:solidFill>
                <a:latin typeface="Calibri"/>
              </a:rPr>
              <a:t>•  Audit wants author, context and deployment id inside the database.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E2E8F0"/>
                </a:solidFill>
                <a:latin typeface="Calibri"/>
              </a:rPr>
              <a:t>•  You want drift detection and diff without a commercial licence.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Flyway vs Liquibase  |  Wallace Espindola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2E8F0"/>
                </a:solidFill>
                <a:latin typeface="Calibri"/>
              </a:rPr>
              <a:t>Architecture of the demo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46304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94415" cy="2337426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146304" tIns="91440" bIns="9144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onsolas"/>
              </a:rPr>
              <a:t>DbMigrationComparisonApplication   (Spring Boot 3.4.2, Java 21, port 8080)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onsolas"/>
              </a:rPr>
              <a:t>|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onsolas"/>
              </a:rPr>
              <a:t>+-- FlywayConfig      -&gt; flywayDataSource    -&gt; Flyway.migrate()  -&gt; flywayJdbcTemplate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onsolas"/>
              </a:rPr>
              <a:t>+-- LiquibaseConfig   -&gt; liquibaseDataSource -&gt; SpringLiquibase   -&gt; liquibaseJdbcTemplate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onsolas"/>
              </a:rPr>
              <a:t>|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onsolas"/>
              </a:rPr>
              <a:t>+-- FlywayHistoryService     (flyway.info())                  --+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onsolas"/>
              </a:rPr>
              <a:t>+-- LiquibaseHistoryService  (SELECT ... DATABASECHANGELOG)     +--&gt; ComparisonService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onsolas"/>
              </a:rPr>
              <a:t>+-- SchemaInspectionService  (INFORMATION_SCHEMA x 2)         --+       -&gt; ComparisonReport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BD5E1"/>
                </a:solidFill>
                <a:latin typeface="Consolas"/>
              </a:rPr>
              <a:t>+-- FeatureMatrix            (18 editorial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BBF24"/>
                </a:solidFill>
                <a:latin typeface="Calibri"/>
              </a:rPr>
              <a:t>DataSourceAutoConfiguration is excluded on purpose — both engines are wired explicitly.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Flyway vs Liquibase  |  Wallace Espindola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E2E8F0"/>
                </a:solidFill>
                <a:latin typeface="Calibri"/>
              </a:rPr>
              <a:t>How to run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463040" cy="381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95631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146304" tIns="91440" bIns="9144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Consolas"/>
              </a:rPr>
              <a:t>git clone https://github.com/wallaceespindola/flyway-vs-liquibase-db-migrations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Consolas"/>
              </a:rPr>
              <a:t>cd flyway-vs-liquibase-db-migrations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BD5E1"/>
                </a:solidFill>
                <a:latin typeface="Consolas"/>
              </a:rPr>
              <a:t>mvn spring-boot:run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971800"/>
          <a:ext cx="11094414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3790"/>
                <a:gridCol w="6400624"/>
              </a:tblGrid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BBF24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 marL="73152" marR="73152" anchor="ctr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BBF24"/>
                          </a:solidFill>
                          <a:latin typeface="Calibri"/>
                        </a:rPr>
                        <a:t>Shows</a:t>
                      </a:r>
                    </a:p>
                  </a:txBody>
                  <a:tcPr marL="73152" marR="73152" anchor="ctr">
                    <a:solidFill>
                      <a:srgbClr val="334155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/api/v1/comparison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full side-by-side report + schemasEquivalent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/api/v1/comparison/features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the 18-row feature matrix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/api/v1/migrations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both engines' status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/api/v1/migrations/{engine}/schema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one engine's schema snapshot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</a:tr>
              <a:tr h="337021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/api/v1/catalog/{engine}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seeded data through v_product_catalog</a:t>
                      </a:r>
                    </a:p>
                  </a:txBody>
                  <a:tcPr marL="73152" marR="73152" marT="27432" marB="27432" anchor="ctr">
                    <a:solidFill>
                      <a:srgbClr val="0F172A"/>
                    </a:solidFill>
                  </a:tcPr>
                </a:tc>
              </a:tr>
              <a:tr h="33702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/swagger-ui.html  ·  /h2-console  ·  /api/v1/health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E2E8F0"/>
                          </a:solidFill>
                          <a:latin typeface="Calibri"/>
                        </a:rPr>
                        <a:t>docs, DB console, health</a:t>
                      </a:r>
                    </a:p>
                  </a:txBody>
                  <a:tcPr marL="73152" marR="73152" marT="27432" marB="27432" anchor="ctr">
                    <a:solidFill>
                      <a:srgbClr val="17223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Flyway vs Liquibase  |  Wallace Espindola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5715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E2E8F0"/>
                </a:solidFill>
                <a:latin typeface="Calibri"/>
              </a:rP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1109441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BBF24"/>
                </a:solidFill>
                <a:latin typeface="Calibri"/>
              </a:rPr>
              <a:t>Wallace Espindola</a:t>
            </a:r>
          </a:p>
          <a:p>
            <a:pPr algn="l">
              <a:spcAft>
                <a:spcPts val="2000"/>
              </a:spcAft>
            </a:pPr>
            <a:r>
              <a:rPr sz="1500" b="0" i="0">
                <a:solidFill>
                  <a:srgbClr val="94A3B8"/>
                </a:solidFill>
                <a:latin typeface="Calibri"/>
              </a:rPr>
              <a:t>Senior Software Engineer &amp; Solution Architect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E2E8F0"/>
                </a:solidFill>
                <a:latin typeface="Calibri"/>
              </a:rPr>
              <a:t>github.com/wallaceespindola/flyway-vs-liquibase-db-migrations</a:t>
            </a:r>
          </a:p>
          <a:p>
            <a:pPr algn="l">
              <a:spcAft>
                <a:spcPts val="2400"/>
              </a:spcAft>
            </a:pPr>
            <a:r>
              <a:rPr sz="1600" b="0" i="0">
                <a:solidFill>
                  <a:srgbClr val="E2E8F0"/>
                </a:solidFill>
                <a:latin typeface="Calibri"/>
              </a:rPr>
              <a:t>github.com/wallaceespindola   |   linkedin.com/in/wallaceespindola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E2E8F0"/>
                </a:solidFill>
                <a:latin typeface="Calibri"/>
              </a:rPr>
              <a:t>Both tools produce the same schema. Choose on process, not on outcome.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Flyway vs Liquibase  |  Wallace Espindola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